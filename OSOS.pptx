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embeddedFontLst>
    <p:embeddedFont>
      <p:font typeface="AC Steelfish"/>
      <p:regular r:id="rId17"/>
    </p:embeddedFont>
    <p:embeddedFont>
      <p:font typeface="Barlow Condensed" panose="00000506000000000000"/>
      <p:regular r:id="rId18"/>
    </p:embeddedFont>
    <p:embeddedFont>
      <p:font typeface="Barlow Condensed Medium" panose="00000606000000000000"/>
      <p:regular r:id="rId19"/>
    </p:embeddedFont>
    <p:embeddedFont>
      <p:font typeface="Bebas Neue" panose="020B0606020202050201"/>
      <p:regular r:id="rId20"/>
    </p:embeddedFont>
    <p:embeddedFont>
      <p:font typeface="Roboto Condensed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01" autoAdjust="0"/>
  </p:normalViewPr>
  <p:slideViewPr>
    <p:cSldViewPr>
      <p:cViewPr varScale="1">
        <p:scale>
          <a:sx n="73" d="100"/>
          <a:sy n="73" d="100"/>
        </p:scale>
        <p:origin x="70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79774" y="4020002"/>
            <a:ext cx="7740132" cy="2763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694"/>
              </a:lnSpc>
            </a:pPr>
            <a:r>
              <a:rPr sz="18000" dirty="0">
                <a:solidFill>
                  <a:srgbClr val="FFFFFF"/>
                </a:solidFill>
                <a:latin typeface="AC Steelfish"/>
              </a:rPr>
              <a:t>CASE STUDY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212619" y="6253894"/>
            <a:ext cx="9862763" cy="54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3"/>
              </a:lnSpc>
            </a:pPr>
            <a:r>
              <a:rPr sz="3400">
                <a:solidFill>
                  <a:srgbClr val="FFFFFF"/>
                </a:solidFill>
                <a:latin typeface="Bebas Neue"/>
              </a:rPr>
              <a:t>OPERATING SYSTEMS · UNIT 4 &amp; 5</a:t>
            </a:r>
          </a:p>
        </p:txBody>
      </p:sp>
      <p:grpSp>
        <p:nvGrpSpPr>
          <p:cNvPr id="4" name="Group 4"/>
          <p:cNvGrpSpPr/>
          <p:nvPr/>
        </p:nvGrpSpPr>
        <p:grpSpPr>
          <a:xfrm rot="-2063063">
            <a:off x="4333454" y="3011183"/>
            <a:ext cx="9621092" cy="4264635"/>
            <a:chOff x="0" y="0"/>
            <a:chExt cx="2130273" cy="9442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0273" cy="944263"/>
            </a:xfrm>
            <a:custGeom>
              <a:avLst/>
              <a:gdLst/>
              <a:ahLst/>
              <a:cxnLst/>
              <a:rect l="l" t="t" r="r" b="b"/>
              <a:pathLst>
                <a:path w="2130273" h="944263">
                  <a:moveTo>
                    <a:pt x="1065137" y="0"/>
                  </a:moveTo>
                  <a:cubicBezTo>
                    <a:pt x="476878" y="0"/>
                    <a:pt x="0" y="211380"/>
                    <a:pt x="0" y="472131"/>
                  </a:cubicBezTo>
                  <a:cubicBezTo>
                    <a:pt x="0" y="732882"/>
                    <a:pt x="476878" y="944263"/>
                    <a:pt x="1065137" y="944263"/>
                  </a:cubicBezTo>
                  <a:cubicBezTo>
                    <a:pt x="1653395" y="944263"/>
                    <a:pt x="2130273" y="732882"/>
                    <a:pt x="2130273" y="472131"/>
                  </a:cubicBezTo>
                  <a:cubicBezTo>
                    <a:pt x="2130273" y="211380"/>
                    <a:pt x="1653395" y="0"/>
                    <a:pt x="1065137" y="0"/>
                  </a:cubicBezTo>
                  <a:close/>
                </a:path>
              </a:pathLst>
            </a:custGeom>
            <a:ln w="142875" cap="sq">
              <a:gradFill>
                <a:gsLst>
                  <a:gs pos="0">
                    <a:srgbClr val="952134">
                      <a:alpha val="54000"/>
                    </a:srgbClr>
                  </a:gs>
                  <a:gs pos="50000">
                    <a:srgbClr val="952134">
                      <a:alpha val="100000"/>
                    </a:srgbClr>
                  </a:gs>
                  <a:gs pos="100000">
                    <a:srgbClr val="952134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9713" y="50425"/>
              <a:ext cx="1730847" cy="805313"/>
            </a:xfrm>
            <a:prstGeom prst="rect">
              <a:avLst/>
            </a:prstGeom>
          </p:spPr>
          <p:txBody>
            <a:bodyPr lIns="56354" tIns="56354" rIns="56354" bIns="56354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84138" y="7461850"/>
            <a:ext cx="1419134" cy="141913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114300" cap="sq">
              <a:solidFill>
                <a:srgbClr val="95213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6354" tIns="56354" rIns="56354" bIns="5635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639037" y="7831860"/>
            <a:ext cx="509336" cy="679115"/>
          </a:xfrm>
          <a:custGeom>
            <a:avLst/>
            <a:gdLst/>
            <a:ahLst/>
            <a:cxnLst/>
            <a:rect l="l" t="t" r="r" b="b"/>
            <a:pathLst>
              <a:path w="509336" h="679115">
                <a:moveTo>
                  <a:pt x="0" y="0"/>
                </a:moveTo>
                <a:lnTo>
                  <a:pt x="509335" y="0"/>
                </a:lnTo>
                <a:lnTo>
                  <a:pt x="509335" y="679114"/>
                </a:lnTo>
                <a:lnTo>
                  <a:pt x="0" y="6791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808128" y="1533479"/>
            <a:ext cx="1059976" cy="105997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85725" cap="sq">
              <a:solidFill>
                <a:srgbClr val="821E2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6354" tIns="56354" rIns="56354" bIns="5635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1152395" y="1815838"/>
            <a:ext cx="371442" cy="495257"/>
          </a:xfrm>
          <a:custGeom>
            <a:avLst/>
            <a:gdLst/>
            <a:ahLst/>
            <a:cxnLst/>
            <a:rect l="l" t="t" r="r" b="b"/>
            <a:pathLst>
              <a:path w="371442" h="495257">
                <a:moveTo>
                  <a:pt x="0" y="0"/>
                </a:moveTo>
                <a:lnTo>
                  <a:pt x="371443" y="0"/>
                </a:lnTo>
                <a:lnTo>
                  <a:pt x="371443" y="495257"/>
                </a:lnTo>
                <a:lnTo>
                  <a:pt x="0" y="495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5648606" y="-306372"/>
            <a:ext cx="7089687" cy="7089687"/>
          </a:xfrm>
          <a:custGeom>
            <a:avLst/>
            <a:gdLst/>
            <a:ahLst/>
            <a:cxnLst/>
            <a:rect l="l" t="t" r="r" b="b"/>
            <a:pathLst>
              <a:path w="7089687" h="7089687">
                <a:moveTo>
                  <a:pt x="0" y="0"/>
                </a:moveTo>
                <a:lnTo>
                  <a:pt x="7089687" y="0"/>
                </a:lnTo>
                <a:lnTo>
                  <a:pt x="7089687" y="7089687"/>
                </a:lnTo>
                <a:lnTo>
                  <a:pt x="0" y="7089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flipH="1" flipV="1">
            <a:off x="-4157183" y="3629477"/>
            <a:ext cx="7089687" cy="7089687"/>
          </a:xfrm>
          <a:custGeom>
            <a:avLst/>
            <a:gdLst/>
            <a:ahLst/>
            <a:cxnLst/>
            <a:rect l="l" t="t" r="r" b="b"/>
            <a:pathLst>
              <a:path w="7089687" h="7089687">
                <a:moveTo>
                  <a:pt x="7089687" y="7089687"/>
                </a:moveTo>
                <a:lnTo>
                  <a:pt x="0" y="7089687"/>
                </a:lnTo>
                <a:lnTo>
                  <a:pt x="0" y="0"/>
                </a:lnTo>
                <a:lnTo>
                  <a:pt x="7089687" y="0"/>
                </a:lnTo>
                <a:lnTo>
                  <a:pt x="7089687" y="7089687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952793" y="1121700"/>
            <a:ext cx="6457029" cy="2763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94"/>
              </a:lnSpc>
            </a:pPr>
            <a:r>
              <a:rPr sz="14000" dirty="0">
                <a:solidFill>
                  <a:srgbClr val="FFFFFF"/>
                </a:solidFill>
                <a:latin typeface="AC Steelfish"/>
              </a:rPr>
              <a:t>AGENT 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660900" y="-596419"/>
            <a:ext cx="9775289" cy="10883419"/>
          </a:xfrm>
          <a:custGeom>
            <a:avLst/>
            <a:gdLst/>
            <a:ahLst/>
            <a:cxnLst/>
            <a:rect l="l" t="t" r="r" b="b"/>
            <a:pathLst>
              <a:path w="9775289" h="10883419">
                <a:moveTo>
                  <a:pt x="0" y="0"/>
                </a:moveTo>
                <a:lnTo>
                  <a:pt x="9775288" y="0"/>
                </a:lnTo>
                <a:lnTo>
                  <a:pt x="9775288" y="10883419"/>
                </a:lnTo>
                <a:lnTo>
                  <a:pt x="0" y="108834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924388" y="2517596"/>
            <a:ext cx="13010782" cy="2752324"/>
            <a:chOff x="0" y="0"/>
            <a:chExt cx="5078997" cy="10744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78997" cy="1074420"/>
            </a:xfrm>
            <a:custGeom>
              <a:avLst/>
              <a:gdLst/>
              <a:ahLst/>
              <a:cxnLst/>
              <a:rect l="l" t="t" r="r" b="b"/>
              <a:pathLst>
                <a:path w="5078997" h="1074420">
                  <a:moveTo>
                    <a:pt x="5950" y="0"/>
                  </a:moveTo>
                  <a:lnTo>
                    <a:pt x="5073047" y="0"/>
                  </a:lnTo>
                  <a:cubicBezTo>
                    <a:pt x="5076333" y="0"/>
                    <a:pt x="5078997" y="2664"/>
                    <a:pt x="5078997" y="5950"/>
                  </a:cubicBezTo>
                  <a:lnTo>
                    <a:pt x="5078997" y="1068470"/>
                  </a:lnTo>
                  <a:cubicBezTo>
                    <a:pt x="5078997" y="1071756"/>
                    <a:pt x="5076333" y="1074420"/>
                    <a:pt x="5073047" y="1074420"/>
                  </a:cubicBezTo>
                  <a:lnTo>
                    <a:pt x="5950" y="1074420"/>
                  </a:lnTo>
                  <a:cubicBezTo>
                    <a:pt x="2664" y="1074420"/>
                    <a:pt x="0" y="1071756"/>
                    <a:pt x="0" y="1068470"/>
                  </a:cubicBezTo>
                  <a:lnTo>
                    <a:pt x="0" y="5950"/>
                  </a:lnTo>
                  <a:cubicBezTo>
                    <a:pt x="0" y="2664"/>
                    <a:pt x="2664" y="0"/>
                    <a:pt x="595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1307" y="6374148"/>
            <a:ext cx="7567016" cy="135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45"/>
              </a:lnSpc>
            </a:pPr>
            <a:r>
              <a:rPr sz="7500">
                <a:solidFill>
                  <a:srgbClr val="FFFFFF"/>
                </a:solidFill>
                <a:latin typeface="AC Steelfish"/>
              </a:rPr>
              <a:t>AGENT OS</a:t>
            </a:r>
          </a:p>
          <a:p>
            <a:r>
              <a:rPr sz="7500">
                <a:solidFill>
                  <a:srgbClr val="FFFFFF"/>
                </a:solidFill>
                <a:latin typeface="AC Steelfish"/>
              </a:rPr>
              <a:t>Memory &amp; File Management Case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4181546" y="1074456"/>
            <a:ext cx="6470213" cy="8212419"/>
            <a:chOff x="0" y="0"/>
            <a:chExt cx="1805412" cy="32058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05412" cy="3205868"/>
            </a:xfrm>
            <a:custGeom>
              <a:avLst/>
              <a:gdLst/>
              <a:ahLst/>
              <a:cxnLst/>
              <a:rect l="l" t="t" r="r" b="b"/>
              <a:pathLst>
                <a:path w="1805412" h="3205868">
                  <a:moveTo>
                    <a:pt x="16740" y="0"/>
                  </a:moveTo>
                  <a:lnTo>
                    <a:pt x="1788672" y="0"/>
                  </a:lnTo>
                  <a:cubicBezTo>
                    <a:pt x="1797917" y="0"/>
                    <a:pt x="1805412" y="7495"/>
                    <a:pt x="1805412" y="16740"/>
                  </a:cubicBezTo>
                  <a:lnTo>
                    <a:pt x="1805412" y="3189128"/>
                  </a:lnTo>
                  <a:cubicBezTo>
                    <a:pt x="1805412" y="3198373"/>
                    <a:pt x="1797917" y="3205868"/>
                    <a:pt x="1788672" y="3205868"/>
                  </a:cubicBezTo>
                  <a:lnTo>
                    <a:pt x="16740" y="3205868"/>
                  </a:lnTo>
                  <a:cubicBezTo>
                    <a:pt x="12300" y="3205868"/>
                    <a:pt x="8042" y="3204104"/>
                    <a:pt x="4903" y="3200965"/>
                  </a:cubicBezTo>
                  <a:cubicBezTo>
                    <a:pt x="1764" y="3197826"/>
                    <a:pt x="0" y="3193568"/>
                    <a:pt x="0" y="3189128"/>
                  </a:cubicBezTo>
                  <a:lnTo>
                    <a:pt x="0" y="16740"/>
                  </a:lnTo>
                  <a:cubicBezTo>
                    <a:pt x="0" y="7495"/>
                    <a:pt x="7495" y="0"/>
                    <a:pt x="16740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-1940162" y="6289438"/>
            <a:ext cx="5937724" cy="5937724"/>
          </a:xfrm>
          <a:custGeom>
            <a:avLst/>
            <a:gdLst/>
            <a:ahLst/>
            <a:cxnLst/>
            <a:rect l="l" t="t" r="r" b="b"/>
            <a:pathLst>
              <a:path w="5937724" h="5937724">
                <a:moveTo>
                  <a:pt x="5937724" y="0"/>
                </a:moveTo>
                <a:lnTo>
                  <a:pt x="0" y="0"/>
                </a:lnTo>
                <a:lnTo>
                  <a:pt x="0" y="5937724"/>
                </a:lnTo>
                <a:lnTo>
                  <a:pt x="5937724" y="5937724"/>
                </a:lnTo>
                <a:lnTo>
                  <a:pt x="593772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OPERATING SYSTEMS · UNIT 4 &amp; 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29800" y="767350"/>
            <a:ext cx="7828551" cy="11474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0331"/>
              </a:lnSpc>
            </a:pPr>
            <a:r>
              <a:rPr sz="8000" dirty="0">
                <a:solidFill>
                  <a:srgbClr val="FFFFFF"/>
                </a:solidFill>
                <a:latin typeface="AC Steelfish"/>
              </a:rPr>
              <a:t>PROBLEM &amp; MOTIVATION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93625" y="3161474"/>
            <a:ext cx="5200845" cy="242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Classical operating systems manage shared hardware resources under strict physical constraints. In modern agent-oriented workspaces, tasks like Research, Coding, and Report agents generate bursty memory demands and concurrent file accesses.</a:t>
            </a:r>
          </a:p>
          <a:p>
            <a:pPr>
              <a:spcAft>
                <a:spcPts val="600"/>
              </a:spcAft>
            </a:pPr>
            <a:endParaRPr sz="2000" dirty="0">
              <a:solidFill>
                <a:srgbClr val="FFFFFF"/>
              </a:solidFill>
              <a:latin typeface="Roboto Condensed"/>
            </a:endParaRPr>
          </a:p>
          <a:p>
            <a:r>
              <a:rPr sz="2000" dirty="0" err="1">
                <a:solidFill>
                  <a:srgbClr val="FFFFFF"/>
                </a:solidFill>
                <a:latin typeface="Roboto Condensed"/>
              </a:rPr>
              <a:t>AgentOS</a:t>
            </a:r>
            <a:r>
              <a:rPr sz="2000" dirty="0">
                <a:solidFill>
                  <a:srgbClr val="FFFFFF"/>
                </a:solidFill>
                <a:latin typeface="Roboto Condensed"/>
              </a:rPr>
              <a:t> investigates two fundamental OS questions:</a:t>
            </a:r>
          </a:p>
          <a:p>
            <a:r>
              <a:rPr sz="2000" dirty="0">
                <a:solidFill>
                  <a:srgbClr val="FFFFFF"/>
                </a:solidFill>
                <a:latin typeface="Roboto Condensed"/>
              </a:rPr>
              <a:t>1. Unit 4: How demand-paged memory replacement (FIFO vs. LRU) behaves under fixed frame limits.</a:t>
            </a:r>
          </a:p>
          <a:p>
            <a:r>
              <a:rPr sz="2000" dirty="0">
                <a:solidFill>
                  <a:srgbClr val="FFFFFF"/>
                </a:solidFill>
                <a:latin typeface="Roboto Condensed"/>
              </a:rPr>
              <a:t>2. Unit 5: How hierarchical file structures enforce access control with zero information leakage.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4539499" y="1045881"/>
            <a:ext cx="7579973" cy="269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31"/>
              </a:lnSpc>
            </a:pPr>
            <a:r>
              <a:rPr sz="8000" dirty="0">
                <a:solidFill>
                  <a:srgbClr val="FFFFFF"/>
                </a:solidFill>
                <a:latin typeface="AC Steelfish"/>
              </a:rPr>
              <a:t>DEMAND PAGING CONTENTION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3140335" y="1028700"/>
            <a:ext cx="4118965" cy="8212419"/>
            <a:chOff x="0" y="0"/>
            <a:chExt cx="1607913" cy="32058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07913" cy="3205868"/>
            </a:xfrm>
            <a:custGeom>
              <a:avLst/>
              <a:gdLst/>
              <a:ahLst/>
              <a:cxnLst/>
              <a:rect l="l" t="t" r="r" b="b"/>
              <a:pathLst>
                <a:path w="1607913" h="3205868">
                  <a:moveTo>
                    <a:pt x="18796" y="0"/>
                  </a:moveTo>
                  <a:lnTo>
                    <a:pt x="1589118" y="0"/>
                  </a:lnTo>
                  <a:cubicBezTo>
                    <a:pt x="1599498" y="0"/>
                    <a:pt x="1607913" y="8415"/>
                    <a:pt x="1607913" y="18796"/>
                  </a:cubicBezTo>
                  <a:lnTo>
                    <a:pt x="1607913" y="3187072"/>
                  </a:lnTo>
                  <a:cubicBezTo>
                    <a:pt x="1607913" y="3197453"/>
                    <a:pt x="1599498" y="3205868"/>
                    <a:pt x="1589118" y="3205868"/>
                  </a:cubicBezTo>
                  <a:lnTo>
                    <a:pt x="18796" y="3205868"/>
                  </a:lnTo>
                  <a:cubicBezTo>
                    <a:pt x="13811" y="3205868"/>
                    <a:pt x="9030" y="3203888"/>
                    <a:pt x="5505" y="3200363"/>
                  </a:cubicBezTo>
                  <a:cubicBezTo>
                    <a:pt x="1980" y="3196838"/>
                    <a:pt x="0" y="3192057"/>
                    <a:pt x="0" y="3187072"/>
                  </a:cubicBezTo>
                  <a:lnTo>
                    <a:pt x="0" y="18796"/>
                  </a:lnTo>
                  <a:cubicBezTo>
                    <a:pt x="0" y="8415"/>
                    <a:pt x="8415" y="0"/>
                    <a:pt x="18796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Freeform 6"/>
          <p:cNvSpPr/>
          <p:nvPr/>
        </p:nvSpPr>
        <p:spPr>
          <a:xfrm rot="-5400000">
            <a:off x="-545557" y="5264445"/>
            <a:ext cx="5568112" cy="2419598"/>
          </a:xfrm>
          <a:custGeom>
            <a:avLst/>
            <a:gdLst/>
            <a:ahLst/>
            <a:cxnLst/>
            <a:rect l="l" t="t" r="r" b="b"/>
            <a:pathLst>
              <a:path w="5568112" h="2419598">
                <a:moveTo>
                  <a:pt x="0" y="0"/>
                </a:moveTo>
                <a:lnTo>
                  <a:pt x="5568112" y="0"/>
                </a:lnTo>
                <a:lnTo>
                  <a:pt x="5568112" y="2419598"/>
                </a:lnTo>
                <a:lnTo>
                  <a:pt x="0" y="2419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UNIT 4 · MEMORY MANAGEMENT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77295" y="3690188"/>
            <a:ext cx="6434043" cy="189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Autonomous tasks repeatedly reference shared context pages under a constrained memory capacity (m = 3 physical frames):</a:t>
            </a:r>
          </a:p>
          <a:p>
            <a:pPr>
              <a:spcAft>
                <a:spcPts val="600"/>
              </a:spcAft>
            </a:pPr>
            <a:endParaRPr sz="2000" dirty="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Page Hits &amp; Faults: Resident pages hit immediately; absent pages trigger fault traps and victim evictions.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FIFO Replacement: Evicts the page loaded earliest, preserving strict arrival order regardless of access frequency.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LRU Replacement: Evicts the least recently referenced page, capturing temporal locality.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Core Focus: Which policy satisfies the stack inclusion property and minimizes fault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056497" y="2828846"/>
            <a:ext cx="8570516" cy="9542073"/>
          </a:xfrm>
          <a:custGeom>
            <a:avLst/>
            <a:gdLst/>
            <a:ahLst/>
            <a:cxnLst/>
            <a:rect l="l" t="t" r="r" b="b"/>
            <a:pathLst>
              <a:path w="8570516" h="9542073">
                <a:moveTo>
                  <a:pt x="0" y="0"/>
                </a:moveTo>
                <a:lnTo>
                  <a:pt x="8570517" y="0"/>
                </a:lnTo>
                <a:lnTo>
                  <a:pt x="8570517" y="9542073"/>
                </a:lnTo>
                <a:lnTo>
                  <a:pt x="0" y="9542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UNIT 5 · FILE SYSTEMS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111321" y="6281567"/>
            <a:ext cx="10147979" cy="2976733"/>
            <a:chOff x="0" y="0"/>
            <a:chExt cx="3961449" cy="11620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61449" cy="1162022"/>
            </a:xfrm>
            <a:custGeom>
              <a:avLst/>
              <a:gdLst/>
              <a:ahLst/>
              <a:cxnLst/>
              <a:rect l="l" t="t" r="r" b="b"/>
              <a:pathLst>
                <a:path w="3961449" h="1162022">
                  <a:moveTo>
                    <a:pt x="7629" y="0"/>
                  </a:moveTo>
                  <a:lnTo>
                    <a:pt x="3953820" y="0"/>
                  </a:lnTo>
                  <a:cubicBezTo>
                    <a:pt x="3955843" y="0"/>
                    <a:pt x="3957784" y="804"/>
                    <a:pt x="3959215" y="2234"/>
                  </a:cubicBezTo>
                  <a:cubicBezTo>
                    <a:pt x="3960645" y="3665"/>
                    <a:pt x="3961449" y="5606"/>
                    <a:pt x="3961449" y="7629"/>
                  </a:cubicBezTo>
                  <a:lnTo>
                    <a:pt x="3961449" y="1154393"/>
                  </a:lnTo>
                  <a:cubicBezTo>
                    <a:pt x="3961449" y="1156417"/>
                    <a:pt x="3960645" y="1158357"/>
                    <a:pt x="3959215" y="1159788"/>
                  </a:cubicBezTo>
                  <a:cubicBezTo>
                    <a:pt x="3957784" y="1161219"/>
                    <a:pt x="3955843" y="1162022"/>
                    <a:pt x="3953820" y="1162022"/>
                  </a:cubicBezTo>
                  <a:lnTo>
                    <a:pt x="7629" y="1162022"/>
                  </a:lnTo>
                  <a:cubicBezTo>
                    <a:pt x="5606" y="1162022"/>
                    <a:pt x="3665" y="1161219"/>
                    <a:pt x="2234" y="1159788"/>
                  </a:cubicBezTo>
                  <a:cubicBezTo>
                    <a:pt x="804" y="1158357"/>
                    <a:pt x="0" y="1156417"/>
                    <a:pt x="0" y="1154393"/>
                  </a:cubicBezTo>
                  <a:lnTo>
                    <a:pt x="0" y="7629"/>
                  </a:lnTo>
                  <a:cubicBezTo>
                    <a:pt x="0" y="5606"/>
                    <a:pt x="804" y="3665"/>
                    <a:pt x="2234" y="2234"/>
                  </a:cubicBezTo>
                  <a:cubicBezTo>
                    <a:pt x="3665" y="804"/>
                    <a:pt x="5606" y="0"/>
                    <a:pt x="7629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867400" y="342900"/>
            <a:ext cx="5998949" cy="269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31"/>
              </a:lnSpc>
            </a:pPr>
            <a:r>
              <a:rPr sz="7500" dirty="0">
                <a:solidFill>
                  <a:srgbClr val="FFFFFF"/>
                </a:solidFill>
                <a:latin typeface="AC Steelfish"/>
              </a:rPr>
              <a:t>HIERARCHICAL ACCESS CONTROL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895657" y="1688543"/>
            <a:ext cx="5632654" cy="215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Multi-agent collaboration requires structured directory protection across shared paths (/notes, /results, /reports):</a:t>
            </a:r>
          </a:p>
          <a:p>
            <a:pPr>
              <a:spcAft>
                <a:spcPts val="600"/>
              </a:spcAft>
            </a:pPr>
            <a:endParaRPr sz="2000" dirty="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Longest-Prefix Matching: Effective permissions are resolved from the most specific path rule before disk resolution.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Zero Information Leakage: Unauthorized operations are rejected without revealing target file existence.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Optimistic Concurrency: Atomic version comparisons reject stale writes, preventing lost updates in shared workspaces.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11914377" y="1214009"/>
            <a:ext cx="13609755" cy="9848513"/>
          </a:xfrm>
          <a:custGeom>
            <a:avLst/>
            <a:gdLst/>
            <a:ahLst/>
            <a:cxnLst/>
            <a:rect l="l" t="t" r="r" b="b"/>
            <a:pathLst>
              <a:path w="13609755" h="9848513">
                <a:moveTo>
                  <a:pt x="0" y="0"/>
                </a:moveTo>
                <a:lnTo>
                  <a:pt x="13609755" y="0"/>
                </a:lnTo>
                <a:lnTo>
                  <a:pt x="13609755" y="9848513"/>
                </a:lnTo>
                <a:lnTo>
                  <a:pt x="0" y="9848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SYSTEM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398174" y="1443477"/>
            <a:ext cx="5998949" cy="269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331"/>
              </a:lnSpc>
            </a:pPr>
            <a:r>
              <a:rPr sz="6800" dirty="0">
                <a:solidFill>
                  <a:srgbClr val="FFFFFF"/>
                </a:solidFill>
                <a:latin typeface="AC Steelfish"/>
              </a:rPr>
              <a:t>ONE PYTHON SIMULATOR, TWO MODULES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16977" y="2201172"/>
            <a:ext cx="5011928" cy="2691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2000" dirty="0" err="1">
                <a:solidFill>
                  <a:srgbClr val="FFFFFF"/>
                </a:solidFill>
                <a:latin typeface="Roboto Condensed"/>
              </a:rPr>
              <a:t>AgentOS</a:t>
            </a:r>
            <a:r>
              <a:rPr sz="2000" dirty="0">
                <a:solidFill>
                  <a:srgbClr val="FFFFFF"/>
                </a:solidFill>
                <a:latin typeface="Roboto Condensed"/>
              </a:rPr>
              <a:t> is implemented as a deterministic, reproducible Python simulation using only standard library modules:</a:t>
            </a:r>
          </a:p>
          <a:p>
            <a:pPr>
              <a:spcAft>
                <a:spcPts val="600"/>
              </a:spcAft>
            </a:pPr>
            <a:endParaRPr sz="2000" dirty="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Module A (Memory Subsystem): Simulates page traces, frame allocation, hit/fault metrics, and FIFO/LRU policies.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Module B (File System): In-memory directory tree with longest-prefix ACLs, logical timestamps, and audit logging.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42/42 automated tests pass with 100% determinism and zero platform dependencies.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6739945"/>
            <a:ext cx="14368423" cy="2518355"/>
            <a:chOff x="0" y="0"/>
            <a:chExt cx="5608977" cy="9830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08977" cy="983086"/>
            </a:xfrm>
            <a:custGeom>
              <a:avLst/>
              <a:gdLst/>
              <a:ahLst/>
              <a:cxnLst/>
              <a:rect l="l" t="t" r="r" b="b"/>
              <a:pathLst>
                <a:path w="5608977" h="983086">
                  <a:moveTo>
                    <a:pt x="5388" y="0"/>
                  </a:moveTo>
                  <a:lnTo>
                    <a:pt x="5603589" y="0"/>
                  </a:lnTo>
                  <a:cubicBezTo>
                    <a:pt x="5606565" y="0"/>
                    <a:pt x="5608977" y="2412"/>
                    <a:pt x="5608977" y="5388"/>
                  </a:cubicBezTo>
                  <a:lnTo>
                    <a:pt x="5608977" y="977698"/>
                  </a:lnTo>
                  <a:cubicBezTo>
                    <a:pt x="5608977" y="980674"/>
                    <a:pt x="5606565" y="983086"/>
                    <a:pt x="5603589" y="983086"/>
                  </a:cubicBezTo>
                  <a:lnTo>
                    <a:pt x="5388" y="983086"/>
                  </a:lnTo>
                  <a:cubicBezTo>
                    <a:pt x="2412" y="983086"/>
                    <a:pt x="0" y="980674"/>
                    <a:pt x="0" y="977698"/>
                  </a:cubicBezTo>
                  <a:lnTo>
                    <a:pt x="0" y="5388"/>
                  </a:lnTo>
                  <a:cubicBezTo>
                    <a:pt x="0" y="2412"/>
                    <a:pt x="2412" y="0"/>
                    <a:pt x="5388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2074581"/>
            <a:ext cx="2798845" cy="7183719"/>
            <a:chOff x="0" y="0"/>
            <a:chExt cx="1092580" cy="280429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2580" cy="2804296"/>
            </a:xfrm>
            <a:custGeom>
              <a:avLst/>
              <a:gdLst/>
              <a:ahLst/>
              <a:cxnLst/>
              <a:rect l="l" t="t" r="r" b="b"/>
              <a:pathLst>
                <a:path w="1092580" h="2804296">
                  <a:moveTo>
                    <a:pt x="27661" y="0"/>
                  </a:moveTo>
                  <a:lnTo>
                    <a:pt x="1064919" y="0"/>
                  </a:lnTo>
                  <a:cubicBezTo>
                    <a:pt x="1080196" y="0"/>
                    <a:pt x="1092580" y="12384"/>
                    <a:pt x="1092580" y="27661"/>
                  </a:cubicBezTo>
                  <a:lnTo>
                    <a:pt x="1092580" y="2776635"/>
                  </a:lnTo>
                  <a:cubicBezTo>
                    <a:pt x="1092580" y="2791912"/>
                    <a:pt x="1080196" y="2804296"/>
                    <a:pt x="1064919" y="2804296"/>
                  </a:cubicBezTo>
                  <a:lnTo>
                    <a:pt x="27661" y="2804296"/>
                  </a:lnTo>
                  <a:cubicBezTo>
                    <a:pt x="20325" y="2804296"/>
                    <a:pt x="13289" y="2801382"/>
                    <a:pt x="8102" y="2796194"/>
                  </a:cubicBezTo>
                  <a:cubicBezTo>
                    <a:pt x="2914" y="2791007"/>
                    <a:pt x="0" y="2783971"/>
                    <a:pt x="0" y="2776635"/>
                  </a:cubicBezTo>
                  <a:lnTo>
                    <a:pt x="0" y="27661"/>
                  </a:lnTo>
                  <a:cubicBezTo>
                    <a:pt x="0" y="12384"/>
                    <a:pt x="12384" y="0"/>
                    <a:pt x="27661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9482385" y="2074581"/>
            <a:ext cx="7776915" cy="3379423"/>
          </a:xfrm>
          <a:custGeom>
            <a:avLst/>
            <a:gdLst/>
            <a:ahLst/>
            <a:cxnLst/>
            <a:rect l="l" t="t" r="r" b="b"/>
            <a:pathLst>
              <a:path w="7776915" h="3379423">
                <a:moveTo>
                  <a:pt x="7776915" y="0"/>
                </a:moveTo>
                <a:lnTo>
                  <a:pt x="0" y="0"/>
                </a:lnTo>
                <a:lnTo>
                  <a:pt x="0" y="3379423"/>
                </a:lnTo>
                <a:lnTo>
                  <a:pt x="7776915" y="3379423"/>
                </a:lnTo>
                <a:lnTo>
                  <a:pt x="777691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CORE DATA STRUCTURES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72833" y="2074581"/>
            <a:ext cx="5998949" cy="269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31"/>
              </a:lnSpc>
            </a:pPr>
            <a:r>
              <a:rPr sz="6800" dirty="0">
                <a:solidFill>
                  <a:srgbClr val="FFFFFF"/>
                </a:solidFill>
                <a:latin typeface="AC Steelfish"/>
              </a:rPr>
              <a:t>DIRECTORY TREE &amp; PAGING QUEUES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69997" y="5802008"/>
            <a:ext cx="5200845" cy="242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Dedicated OS Data Structures:</a:t>
            </a:r>
          </a:p>
          <a:p>
            <a:pPr>
              <a:spcAft>
                <a:spcPts val="600"/>
              </a:spcAft>
            </a:pPr>
            <a:endParaRPr sz="2000" dirty="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Directory </a:t>
            </a:r>
            <a:r>
              <a:rPr sz="2000" dirty="0" err="1">
                <a:solidFill>
                  <a:srgbClr val="FFFFFF"/>
                </a:solidFill>
                <a:latin typeface="Roboto Condensed"/>
              </a:rPr>
              <a:t>Inode</a:t>
            </a:r>
            <a:r>
              <a:rPr sz="2000" dirty="0">
                <a:solidFill>
                  <a:srgbClr val="FFFFFF"/>
                </a:solidFill>
                <a:latin typeface="Roboto Condensed"/>
              </a:rPr>
              <a:t> Tree: Hierarchical directory tree rooted at /workspace with nested subfolders, file metadata, and version tags.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FIFO Arrival Queue: Linear queue where page load order is preserved; hits do not reorder frames.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dirty="0">
                <a:solidFill>
                  <a:srgbClr val="FFFFFF"/>
                </a:solidFill>
                <a:latin typeface="Roboto Condensed"/>
              </a:rPr>
              <a:t>• LRU Recency Map: Timestamp table tracking last reference times; victim selection finds the minimum logical timestamp.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8255386" y="114300"/>
            <a:ext cx="10032614" cy="10372063"/>
          </a:xfrm>
          <a:custGeom>
            <a:avLst/>
            <a:gdLst/>
            <a:ahLst/>
            <a:cxnLst/>
            <a:rect l="l" t="t" r="r" b="b"/>
            <a:pathLst>
              <a:path w="10032614" h="10372063">
                <a:moveTo>
                  <a:pt x="0" y="0"/>
                </a:moveTo>
                <a:lnTo>
                  <a:pt x="10032614" y="0"/>
                </a:lnTo>
                <a:lnTo>
                  <a:pt x="10032614" y="10372064"/>
                </a:lnTo>
                <a:lnTo>
                  <a:pt x="0" y="103720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UNIT 4 · MEMORY WALKTHROUGH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82200" y="114300"/>
            <a:ext cx="5998949" cy="3996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331"/>
              </a:lnSpc>
            </a:pPr>
            <a:r>
              <a:rPr sz="6800" dirty="0">
                <a:solidFill>
                  <a:srgbClr val="FFFFFF"/>
                </a:solidFill>
                <a:latin typeface="AC Steelfish"/>
              </a:rPr>
              <a:t>FIFO VS LRU TRACE DIVERGENCE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299835"/>
            <a:ext cx="3716501" cy="2958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1800">
                <a:solidFill>
                  <a:srgbClr val="FFFFFF"/>
                </a:solidFill>
                <a:latin typeface="Roboto Condensed"/>
              </a:rPr>
              <a:t>Workload A Trace (3 Frames):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Step 5 (Page 0 Hit):</a:t>
            </a:r>
          </a:p>
          <a:p>
            <a:r>
              <a:rPr sz="1800">
                <a:solidFill>
                  <a:srgbClr val="FFFFFF"/>
                </a:solidFill>
                <a:latin typeface="Roboto Condensed"/>
              </a:rPr>
              <a:t>Both policies hold frames [2, 0, 1]. FIFO queue remains unchanged. LRU updates Page 0 timestamp to t=5.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Step 6 (Page 3 Fault):</a:t>
            </a:r>
          </a:p>
          <a:p>
            <a:r>
              <a:rPr sz="1800">
                <a:solidFill>
                  <a:srgbClr val="FFFFFF"/>
                </a:solidFill>
                <a:latin typeface="Roboto Condensed"/>
              </a:rPr>
              <a:t>FIFO evicts Page 0 (oldest arrival).</a:t>
            </a:r>
          </a:p>
          <a:p>
            <a:r>
              <a:rPr sz="1800">
                <a:solidFill>
                  <a:srgbClr val="FFFFFF"/>
                </a:solidFill>
                <a:latin typeface="Roboto Condensed"/>
              </a:rPr>
              <a:t>LRU evicts Page 1 (least recently used), retaining Page 0 in memory.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92200" y="5392797"/>
            <a:ext cx="3716501" cy="2958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1800" dirty="0">
                <a:solidFill>
                  <a:srgbClr val="FFFFFF"/>
                </a:solidFill>
                <a:latin typeface="Roboto Condensed"/>
              </a:rPr>
              <a:t>Divergence &amp; Final Outcomes:</a:t>
            </a:r>
          </a:p>
          <a:p>
            <a:pPr>
              <a:spcAft>
                <a:spcPts val="600"/>
              </a:spcAft>
            </a:pPr>
            <a:endParaRPr sz="1800" dirty="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dirty="0">
                <a:solidFill>
                  <a:srgbClr val="FFFFFF"/>
                </a:solidFill>
                <a:latin typeface="Roboto Condensed"/>
              </a:rPr>
              <a:t>• Step 7 (Page 0 Reference):</a:t>
            </a:r>
          </a:p>
          <a:p>
            <a:r>
              <a:rPr sz="1800" dirty="0">
                <a:solidFill>
                  <a:srgbClr val="FFFFFF"/>
                </a:solidFill>
                <a:latin typeface="Roboto Condensed"/>
              </a:rPr>
              <a:t>Page 0 is referenced again! FIFO suffers a costly Page Fault. LRU scores a direct Page HIT!</a:t>
            </a:r>
          </a:p>
          <a:p>
            <a:pPr>
              <a:spcAft>
                <a:spcPts val="600"/>
              </a:spcAft>
            </a:pPr>
            <a:endParaRPr sz="1800" dirty="0">
              <a:solidFill>
                <a:srgbClr val="FFFFFF"/>
              </a:solidFill>
              <a:latin typeface="Roboto Condensed"/>
            </a:endParaRPr>
          </a:p>
          <a:p>
            <a:r>
              <a:rPr sz="1800" dirty="0">
                <a:solidFill>
                  <a:srgbClr val="FFFFFF"/>
                </a:solidFill>
                <a:latin typeface="Roboto Condensed"/>
              </a:rPr>
              <a:t>Benchmark Results: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dirty="0">
                <a:solidFill>
                  <a:srgbClr val="FFFFFF"/>
                </a:solidFill>
                <a:latin typeface="Roboto Condensed"/>
              </a:rPr>
              <a:t>• FIFO: 7 Hits, 15 Faults (31.82% Hit Ratio)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dirty="0">
                <a:solidFill>
                  <a:srgbClr val="FFFFFF"/>
                </a:solidFill>
                <a:latin typeface="Roboto Condensed"/>
              </a:rPr>
              <a:t>• LRU: 10 Hits, 12 Faults (45.45% Hit Ratio)</a:t>
            </a:r>
          </a:p>
          <a:p>
            <a:r>
              <a:rPr sz="1800" dirty="0">
                <a:solidFill>
                  <a:srgbClr val="FFFFFF"/>
                </a:solidFill>
                <a:latin typeface="Roboto Condensed"/>
              </a:rPr>
              <a:t>LRU delivers +13.63% higher hit ratio on temporal workloads.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413911"/>
            <a:ext cx="8672777" cy="2605304"/>
            <a:chOff x="0" y="0"/>
            <a:chExt cx="3385577" cy="10170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385577" cy="1017028"/>
            </a:xfrm>
            <a:custGeom>
              <a:avLst/>
              <a:gdLst/>
              <a:ahLst/>
              <a:cxnLst/>
              <a:rect l="l" t="t" r="r" b="b"/>
              <a:pathLst>
                <a:path w="3385577" h="1017028">
                  <a:moveTo>
                    <a:pt x="8927" y="0"/>
                  </a:moveTo>
                  <a:lnTo>
                    <a:pt x="3376651" y="0"/>
                  </a:lnTo>
                  <a:cubicBezTo>
                    <a:pt x="3381581" y="0"/>
                    <a:pt x="3385577" y="3997"/>
                    <a:pt x="3385577" y="8927"/>
                  </a:cubicBezTo>
                  <a:lnTo>
                    <a:pt x="3385577" y="1008101"/>
                  </a:lnTo>
                  <a:cubicBezTo>
                    <a:pt x="3385577" y="1013031"/>
                    <a:pt x="3381581" y="1017028"/>
                    <a:pt x="3376651" y="1017028"/>
                  </a:cubicBezTo>
                  <a:lnTo>
                    <a:pt x="8927" y="1017028"/>
                  </a:lnTo>
                  <a:cubicBezTo>
                    <a:pt x="3997" y="1017028"/>
                    <a:pt x="0" y="1013031"/>
                    <a:pt x="0" y="1008101"/>
                  </a:cubicBezTo>
                  <a:lnTo>
                    <a:pt x="0" y="8927"/>
                  </a:lnTo>
                  <a:cubicBezTo>
                    <a:pt x="0" y="3997"/>
                    <a:pt x="3997" y="0"/>
                    <a:pt x="8927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1369973" y="5524350"/>
            <a:ext cx="9525301" cy="9525301"/>
          </a:xfrm>
          <a:custGeom>
            <a:avLst/>
            <a:gdLst/>
            <a:ahLst/>
            <a:cxnLst/>
            <a:rect l="l" t="t" r="r" b="b"/>
            <a:pathLst>
              <a:path w="9525301" h="9525301">
                <a:moveTo>
                  <a:pt x="9525301" y="0"/>
                </a:moveTo>
                <a:lnTo>
                  <a:pt x="0" y="0"/>
                </a:lnTo>
                <a:lnTo>
                  <a:pt x="0" y="9525300"/>
                </a:lnTo>
                <a:lnTo>
                  <a:pt x="9525301" y="9525300"/>
                </a:lnTo>
                <a:lnTo>
                  <a:pt x="952530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6567013"/>
            <a:ext cx="5998949" cy="269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31"/>
              </a:lnSpc>
            </a:pPr>
            <a:r>
              <a:rPr sz="7500">
                <a:solidFill>
                  <a:srgbClr val="FFFFFF"/>
                </a:solidFill>
                <a:latin typeface="AC Steelfish"/>
              </a:rPr>
              <a:t>BELADY'S ANOMALY PROOF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859409" y="1028700"/>
            <a:ext cx="4591839" cy="8212419"/>
            <a:chOff x="0" y="0"/>
            <a:chExt cx="1792508" cy="32058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92508" cy="3205868"/>
            </a:xfrm>
            <a:custGeom>
              <a:avLst/>
              <a:gdLst/>
              <a:ahLst/>
              <a:cxnLst/>
              <a:rect l="l" t="t" r="r" b="b"/>
              <a:pathLst>
                <a:path w="1792508" h="3205868">
                  <a:moveTo>
                    <a:pt x="16860" y="0"/>
                  </a:moveTo>
                  <a:lnTo>
                    <a:pt x="1775648" y="0"/>
                  </a:lnTo>
                  <a:cubicBezTo>
                    <a:pt x="1780120" y="0"/>
                    <a:pt x="1784408" y="1776"/>
                    <a:pt x="1787570" y="4938"/>
                  </a:cubicBezTo>
                  <a:cubicBezTo>
                    <a:pt x="1790732" y="8100"/>
                    <a:pt x="1792508" y="12389"/>
                    <a:pt x="1792508" y="16860"/>
                  </a:cubicBezTo>
                  <a:lnTo>
                    <a:pt x="1792508" y="3189008"/>
                  </a:lnTo>
                  <a:cubicBezTo>
                    <a:pt x="1792508" y="3198319"/>
                    <a:pt x="1784960" y="3205868"/>
                    <a:pt x="1775648" y="3205868"/>
                  </a:cubicBezTo>
                  <a:lnTo>
                    <a:pt x="16860" y="3205868"/>
                  </a:lnTo>
                  <a:cubicBezTo>
                    <a:pt x="12389" y="3205868"/>
                    <a:pt x="8100" y="3204092"/>
                    <a:pt x="4938" y="3200930"/>
                  </a:cubicBezTo>
                  <a:cubicBezTo>
                    <a:pt x="1776" y="3197768"/>
                    <a:pt x="0" y="3193479"/>
                    <a:pt x="0" y="3189008"/>
                  </a:cubicBezTo>
                  <a:lnTo>
                    <a:pt x="0" y="16860"/>
                  </a:lnTo>
                  <a:cubicBezTo>
                    <a:pt x="0" y="12389"/>
                    <a:pt x="1776" y="8100"/>
                    <a:pt x="4938" y="4938"/>
                  </a:cubicBezTo>
                  <a:cubicBezTo>
                    <a:pt x="8100" y="1776"/>
                    <a:pt x="12389" y="0"/>
                    <a:pt x="1686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THEORETICAL PROOF · UNIT 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8455" y="1057275"/>
            <a:ext cx="5200845" cy="242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1800">
                <a:solidFill>
                  <a:srgbClr val="FFFFFF"/>
                </a:solidFill>
                <a:latin typeface="Roboto Condensed"/>
              </a:rPr>
              <a:t>Workload D Benchmark: [1, 2, 3, 4, 1, 2, 5, 1, 2, 3, 4, 5] evaluated across 1 to 5 frames.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FFFFFF"/>
              </a:solidFill>
              <a:latin typeface="Roboto Condensed"/>
            </a:endParaRPr>
          </a:p>
          <a:p>
            <a:r>
              <a:rPr sz="1800">
                <a:solidFill>
                  <a:srgbClr val="FFFFFF"/>
                </a:solidFill>
                <a:latin typeface="Roboto Condensed"/>
              </a:rPr>
              <a:t>Stack Inclusion Theorem: M(m, t) ⊆ M(m+1, t)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FIFO Anomaly: Increasing frame capacity from 3 to 4 frames causes faults to increase from 9 to 10 (+1 fault). Proves FIFO violates the stack inclusion property.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8455" y="4190367"/>
            <a:ext cx="5200845" cy="1358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LRU Monotonicity: Faults strictly decrease (10 → 8 → 5 faults). Proves LRU is a true stack algorithm that guarantees better performance with additional memory.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55799" y="8825702"/>
            <a:ext cx="3403501" cy="25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800">
                <a:solidFill>
                  <a:srgbClr val="FFFFFF"/>
                </a:solidFill>
                <a:latin typeface="Barlow Condensed Medium"/>
              </a:rPr>
              <a:t>github.com/Avanipihu/AGENTOS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9865514" y="-3385688"/>
            <a:ext cx="11197659" cy="11218056"/>
          </a:xfrm>
          <a:custGeom>
            <a:avLst/>
            <a:gdLst/>
            <a:ahLst/>
            <a:cxnLst/>
            <a:rect l="l" t="t" r="r" b="b"/>
            <a:pathLst>
              <a:path w="11197659" h="11218056">
                <a:moveTo>
                  <a:pt x="0" y="0"/>
                </a:moveTo>
                <a:lnTo>
                  <a:pt x="11197659" y="0"/>
                </a:lnTo>
                <a:lnTo>
                  <a:pt x="11197659" y="11218055"/>
                </a:lnTo>
                <a:lnTo>
                  <a:pt x="0" y="11218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9144000" y="2559527"/>
            <a:ext cx="8115300" cy="2583973"/>
            <a:chOff x="0" y="0"/>
            <a:chExt cx="3167956" cy="10087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67956" cy="1008701"/>
            </a:xfrm>
            <a:custGeom>
              <a:avLst/>
              <a:gdLst/>
              <a:ahLst/>
              <a:cxnLst/>
              <a:rect l="l" t="t" r="r" b="b"/>
              <a:pathLst>
                <a:path w="3167956" h="1008701">
                  <a:moveTo>
                    <a:pt x="9540" y="0"/>
                  </a:moveTo>
                  <a:lnTo>
                    <a:pt x="3158416" y="0"/>
                  </a:lnTo>
                  <a:cubicBezTo>
                    <a:pt x="3160946" y="0"/>
                    <a:pt x="3163373" y="1005"/>
                    <a:pt x="3165162" y="2794"/>
                  </a:cubicBezTo>
                  <a:cubicBezTo>
                    <a:pt x="3166951" y="4583"/>
                    <a:pt x="3167956" y="7010"/>
                    <a:pt x="3167956" y="9540"/>
                  </a:cubicBezTo>
                  <a:lnTo>
                    <a:pt x="3167956" y="999161"/>
                  </a:lnTo>
                  <a:cubicBezTo>
                    <a:pt x="3167956" y="1004430"/>
                    <a:pt x="3163685" y="1008701"/>
                    <a:pt x="3158416" y="1008701"/>
                  </a:cubicBezTo>
                  <a:lnTo>
                    <a:pt x="9540" y="1008701"/>
                  </a:lnTo>
                  <a:cubicBezTo>
                    <a:pt x="4271" y="1008701"/>
                    <a:pt x="0" y="1004430"/>
                    <a:pt x="0" y="99916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SECURITY ALGORITHM · UNIT 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6567013"/>
            <a:ext cx="7579973" cy="269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331"/>
              </a:lnSpc>
            </a:pPr>
            <a:r>
              <a:rPr sz="7500">
                <a:solidFill>
                  <a:srgbClr val="FFFFFF"/>
                </a:solidFill>
                <a:latin typeface="AC Steelfish"/>
              </a:rPr>
              <a:t>LONGEST-PREFIX MATCHING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588102"/>
            <a:ext cx="5200845" cy="2425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1800">
                <a:solidFill>
                  <a:srgbClr val="FFFFFF"/>
                </a:solidFill>
                <a:latin typeface="Roboto Condensed"/>
              </a:rPr>
              <a:t>Mathematical Formulation:</a:t>
            </a:r>
          </a:p>
          <a:p>
            <a:r>
              <a:rPr sz="1800">
                <a:solidFill>
                  <a:srgbClr val="FFFFFF"/>
                </a:solidFill>
                <a:latin typeface="Roboto Condensed"/>
              </a:rPr>
              <a:t>A(S, P) = Rule(S, argmax_{L ⊑ P} |L|)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FFFFFF"/>
              </a:solidFill>
              <a:latin typeface="Roboto Condensed"/>
            </a:endParaRPr>
          </a:p>
          <a:p>
            <a:r>
              <a:rPr sz="1800">
                <a:solidFill>
                  <a:srgbClr val="FFFFFF"/>
                </a:solidFill>
                <a:latin typeface="Roboto Condensed"/>
              </a:rPr>
              <a:t>Four-Stage Security Pipeline:</a:t>
            </a:r>
          </a:p>
          <a:p>
            <a:r>
              <a:rPr sz="1800">
                <a:solidFill>
                  <a:srgbClr val="FFFFFF"/>
                </a:solidFill>
                <a:latin typeface="Roboto Condensed"/>
              </a:rPr>
              <a:t>1. Path Normalization: Standardize delimiters and reject relative paths / traversal.</a:t>
            </a:r>
          </a:p>
          <a:p>
            <a:r>
              <a:rPr sz="1800">
                <a:solidFill>
                  <a:srgbClr val="FFFFFF"/>
                </a:solidFill>
                <a:latin typeface="Roboto Condensed"/>
              </a:rPr>
              <a:t>2. Longest-Prefix Resolution: Identify the most specific directory rule matching the agent role.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721193"/>
            <a:ext cx="5200845" cy="1358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1800">
                <a:solidFill>
                  <a:srgbClr val="FFFFFF"/>
                </a:solidFill>
                <a:latin typeface="Roboto Condensed"/>
              </a:rPr>
              <a:t>3. Pre-Resolution Authorization: Deny unauthorized operations prior to filesystem inspection, preventing timing attacks and path enumeration.</a:t>
            </a:r>
          </a:p>
          <a:p>
            <a:r>
              <a:rPr sz="1800">
                <a:solidFill>
                  <a:srgbClr val="FFFFFF"/>
                </a:solidFill>
                <a:latin typeface="Roboto Condensed"/>
              </a:rPr>
              <a:t>4. Atomic Execution: Traverse inode tree and execute version-checked operations.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9003030"/>
            <a:ext cx="3403501" cy="25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800">
                <a:solidFill>
                  <a:srgbClr val="FFFFFF"/>
                </a:solidFill>
                <a:latin typeface="Barlow Condensed Medium"/>
              </a:rPr>
              <a:t>github.com/Avanipihu/AGENTOS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577687" y="-513007"/>
            <a:ext cx="6853513" cy="11598252"/>
          </a:xfrm>
          <a:custGeom>
            <a:avLst/>
            <a:gdLst/>
            <a:ahLst/>
            <a:cxnLst/>
            <a:rect l="l" t="t" r="r" b="b"/>
            <a:pathLst>
              <a:path w="6853513" h="11598252">
                <a:moveTo>
                  <a:pt x="0" y="0"/>
                </a:moveTo>
                <a:lnTo>
                  <a:pt x="6853513" y="0"/>
                </a:lnTo>
                <a:lnTo>
                  <a:pt x="6853513" y="11598253"/>
                </a:lnTo>
                <a:lnTo>
                  <a:pt x="0" y="115982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CONCURRENCY &amp; INTEGRITY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94833"/>
            <a:ext cx="7812811" cy="269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31"/>
              </a:lnSpc>
            </a:pPr>
            <a:r>
              <a:rPr sz="6800">
                <a:solidFill>
                  <a:srgbClr val="FFFFFF"/>
                </a:solidFill>
                <a:latin typeface="AC Steelfish"/>
              </a:rPr>
              <a:t>OPTIMISTIC CONCURRENCY CONTROL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15369" y="6394307"/>
            <a:ext cx="4723598" cy="2691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2000">
                <a:solidFill>
                  <a:srgbClr val="FFFFFF"/>
                </a:solidFill>
                <a:latin typeface="Roboto Condensed"/>
              </a:rPr>
              <a:t>Protecting Shared Workspace State:</a:t>
            </a:r>
          </a:p>
          <a:p>
            <a:pPr>
              <a:spcAft>
                <a:spcPts val="600"/>
              </a:spcAft>
            </a:pPr>
            <a:endParaRPr sz="200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Roboto Condensed"/>
              </a:rPr>
              <a:t>• Version-Checked Writes: write(path, expected_version=v). If concurrent agent operations modified the file, the write is aborted with CONFLICT status.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>
                <a:solidFill>
                  <a:srgbClr val="FFFFFF"/>
                </a:solidFill>
                <a:latin typeface="Roboto Condensed"/>
              </a:rPr>
              <a:t>• Audit Logging: Standardized 15-operation scenario generates a tamper-evident audit trace (10 OK, 2 DENIED, 2 ERROR, 1 CONFLICT) with logical timestamp tracking.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6193504"/>
            <a:ext cx="3617514" cy="3064796"/>
            <a:chOff x="0" y="0"/>
            <a:chExt cx="1412163" cy="119639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12163" cy="1196399"/>
            </a:xfrm>
            <a:custGeom>
              <a:avLst/>
              <a:gdLst/>
              <a:ahLst/>
              <a:cxnLst/>
              <a:rect l="l" t="t" r="r" b="b"/>
              <a:pathLst>
                <a:path w="1412163" h="1196399">
                  <a:moveTo>
                    <a:pt x="21401" y="0"/>
                  </a:moveTo>
                  <a:lnTo>
                    <a:pt x="1390762" y="0"/>
                  </a:lnTo>
                  <a:cubicBezTo>
                    <a:pt x="1396438" y="0"/>
                    <a:pt x="1401881" y="2255"/>
                    <a:pt x="1405895" y="6268"/>
                  </a:cubicBezTo>
                  <a:cubicBezTo>
                    <a:pt x="1409908" y="10282"/>
                    <a:pt x="1412163" y="15725"/>
                    <a:pt x="1412163" y="21401"/>
                  </a:cubicBezTo>
                  <a:lnTo>
                    <a:pt x="1412163" y="1174998"/>
                  </a:lnTo>
                  <a:cubicBezTo>
                    <a:pt x="1412163" y="1180674"/>
                    <a:pt x="1409908" y="1186118"/>
                    <a:pt x="1405895" y="1190131"/>
                  </a:cubicBezTo>
                  <a:cubicBezTo>
                    <a:pt x="1401881" y="1194144"/>
                    <a:pt x="1396438" y="1196399"/>
                    <a:pt x="1390762" y="1196399"/>
                  </a:cubicBezTo>
                  <a:lnTo>
                    <a:pt x="21401" y="1196399"/>
                  </a:lnTo>
                  <a:cubicBezTo>
                    <a:pt x="9582" y="1196399"/>
                    <a:pt x="0" y="1186818"/>
                    <a:pt x="0" y="1174998"/>
                  </a:cubicBezTo>
                  <a:lnTo>
                    <a:pt x="0" y="21401"/>
                  </a:lnTo>
                  <a:cubicBezTo>
                    <a:pt x="0" y="15725"/>
                    <a:pt x="2255" y="10282"/>
                    <a:pt x="6268" y="6268"/>
                  </a:cubicBezTo>
                  <a:cubicBezTo>
                    <a:pt x="10282" y="2255"/>
                    <a:pt x="15725" y="0"/>
                    <a:pt x="21401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6224658"/>
            <a:ext cx="8647878" cy="3016461"/>
            <a:chOff x="0" y="0"/>
            <a:chExt cx="3375857" cy="11775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75858" cy="1177531"/>
            </a:xfrm>
            <a:custGeom>
              <a:avLst/>
              <a:gdLst/>
              <a:ahLst/>
              <a:cxnLst/>
              <a:rect l="l" t="t" r="r" b="b"/>
              <a:pathLst>
                <a:path w="3375858" h="1177531">
                  <a:moveTo>
                    <a:pt x="8952" y="0"/>
                  </a:moveTo>
                  <a:lnTo>
                    <a:pt x="3366905" y="0"/>
                  </a:lnTo>
                  <a:cubicBezTo>
                    <a:pt x="3369280" y="0"/>
                    <a:pt x="3371557" y="943"/>
                    <a:pt x="3373236" y="2622"/>
                  </a:cubicBezTo>
                  <a:cubicBezTo>
                    <a:pt x="3374914" y="4301"/>
                    <a:pt x="3375858" y="6578"/>
                    <a:pt x="3375858" y="8952"/>
                  </a:cubicBezTo>
                  <a:lnTo>
                    <a:pt x="3375858" y="1168578"/>
                  </a:lnTo>
                  <a:cubicBezTo>
                    <a:pt x="3375858" y="1170953"/>
                    <a:pt x="3374914" y="1173230"/>
                    <a:pt x="3373236" y="1174909"/>
                  </a:cubicBezTo>
                  <a:cubicBezTo>
                    <a:pt x="3371557" y="1176588"/>
                    <a:pt x="3369280" y="1177531"/>
                    <a:pt x="3366905" y="1177531"/>
                  </a:cubicBezTo>
                  <a:lnTo>
                    <a:pt x="8952" y="1177531"/>
                  </a:lnTo>
                  <a:cubicBezTo>
                    <a:pt x="6578" y="1177531"/>
                    <a:pt x="4301" y="1176588"/>
                    <a:pt x="2622" y="1174909"/>
                  </a:cubicBezTo>
                  <a:cubicBezTo>
                    <a:pt x="943" y="1173230"/>
                    <a:pt x="0" y="1170953"/>
                    <a:pt x="0" y="1168578"/>
                  </a:cubicBezTo>
                  <a:lnTo>
                    <a:pt x="0" y="8952"/>
                  </a:lnTo>
                  <a:cubicBezTo>
                    <a:pt x="0" y="6578"/>
                    <a:pt x="943" y="4301"/>
                    <a:pt x="2622" y="2622"/>
                  </a:cubicBezTo>
                  <a:cubicBezTo>
                    <a:pt x="4301" y="943"/>
                    <a:pt x="6578" y="0"/>
                    <a:pt x="8952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2182959"/>
            <a:ext cx="7242974" cy="3147401"/>
          </a:xfrm>
          <a:custGeom>
            <a:avLst/>
            <a:gdLst/>
            <a:ahLst/>
            <a:cxnLst/>
            <a:rect l="l" t="t" r="r" b="b"/>
            <a:pathLst>
              <a:path w="7242974" h="3147401">
                <a:moveTo>
                  <a:pt x="0" y="0"/>
                </a:moveTo>
                <a:lnTo>
                  <a:pt x="7242974" y="0"/>
                </a:lnTo>
                <a:lnTo>
                  <a:pt x="7242974" y="3147402"/>
                </a:lnTo>
                <a:lnTo>
                  <a:pt x="0" y="31474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770919" y="2182959"/>
            <a:ext cx="6962563" cy="269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331"/>
              </a:lnSpc>
            </a:pPr>
            <a:r>
              <a:rPr sz="7500" dirty="0">
                <a:solidFill>
                  <a:srgbClr val="FFFFFF"/>
                </a:solidFill>
                <a:latin typeface="AC Steelfish"/>
              </a:rPr>
              <a:t>RELATED SYSTEMS CONTEXT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EXPLICIT CLAIM BOUNDARIES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90290" y="1269425"/>
            <a:ext cx="6145564" cy="215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1800" dirty="0">
                <a:solidFill>
                  <a:srgbClr val="FFFFFF"/>
                </a:solidFill>
                <a:latin typeface="Roboto Condensed"/>
              </a:rPr>
              <a:t>Contemporary Systems Context:</a:t>
            </a:r>
          </a:p>
          <a:p>
            <a:pPr>
              <a:spcAft>
                <a:spcPts val="600"/>
              </a:spcAft>
            </a:pPr>
            <a:endParaRPr sz="1800" dirty="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dirty="0">
                <a:solidFill>
                  <a:srgbClr val="FFFFFF"/>
                </a:solidFill>
                <a:latin typeface="Roboto Condensed"/>
              </a:rPr>
              <a:t>• </a:t>
            </a:r>
            <a:r>
              <a:rPr sz="1800" dirty="0" err="1">
                <a:solidFill>
                  <a:srgbClr val="FFFFFF"/>
                </a:solidFill>
                <a:latin typeface="Roboto Condensed"/>
              </a:rPr>
              <a:t>Omarchy</a:t>
            </a:r>
            <a:r>
              <a:rPr sz="1800" dirty="0">
                <a:solidFill>
                  <a:srgbClr val="FFFFFF"/>
                </a:solidFill>
                <a:latin typeface="Roboto Condensed"/>
              </a:rPr>
              <a:t>: Arch Linux desktop distribution using </a:t>
            </a:r>
            <a:r>
              <a:rPr sz="1800" dirty="0" err="1">
                <a:solidFill>
                  <a:srgbClr val="FFFFFF"/>
                </a:solidFill>
                <a:latin typeface="Roboto Condensed"/>
              </a:rPr>
              <a:t>Hyprland</a:t>
            </a:r>
            <a:r>
              <a:rPr sz="1800" dirty="0">
                <a:solidFill>
                  <a:srgbClr val="FFFFFF"/>
                </a:solidFill>
                <a:latin typeface="Roboto Condensed"/>
              </a:rPr>
              <a:t> and agent launchers. Provides real-world workspace setting but relies on standard Linux kernel paging.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dirty="0">
                <a:solidFill>
                  <a:srgbClr val="FFFFFF"/>
                </a:solidFill>
                <a:latin typeface="Roboto Condensed"/>
              </a:rPr>
              <a:t>• AIOS (Mei et al.): Academic research architecture proposing LLM kernel scheduling and context switching.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13736" y="3785235"/>
            <a:ext cx="6145564" cy="1358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MemGPT: Prompt-level virtual context management for LLM context windows.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AgentOS: Bounded educational simulation modeling classical Unit 4 demand paging and Unit 5 hierarchical access control.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9593991" y="5940398"/>
            <a:ext cx="15671048" cy="9516600"/>
          </a:xfrm>
          <a:custGeom>
            <a:avLst/>
            <a:gdLst/>
            <a:ahLst/>
            <a:cxnLst/>
            <a:rect l="l" t="t" r="r" b="b"/>
            <a:pathLst>
              <a:path w="15671048" h="9516600">
                <a:moveTo>
                  <a:pt x="0" y="0"/>
                </a:moveTo>
                <a:lnTo>
                  <a:pt x="15671049" y="0"/>
                </a:lnTo>
                <a:lnTo>
                  <a:pt x="15671049" y="9516600"/>
                </a:lnTo>
                <a:lnTo>
                  <a:pt x="0" y="9516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782146" y="-541623"/>
            <a:ext cx="15671048" cy="9516600"/>
          </a:xfrm>
          <a:custGeom>
            <a:avLst/>
            <a:gdLst/>
            <a:ahLst/>
            <a:cxnLst/>
            <a:rect l="l" t="t" r="r" b="b"/>
            <a:pathLst>
              <a:path w="15671048" h="9516600">
                <a:moveTo>
                  <a:pt x="0" y="0"/>
                </a:moveTo>
                <a:lnTo>
                  <a:pt x="15671049" y="0"/>
                </a:lnTo>
                <a:lnTo>
                  <a:pt x="15671049" y="9516600"/>
                </a:lnTo>
                <a:lnTo>
                  <a:pt x="0" y="95166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2667461" y="1045881"/>
            <a:ext cx="4591839" cy="8212419"/>
            <a:chOff x="0" y="0"/>
            <a:chExt cx="1792508" cy="32058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92508" cy="3205868"/>
            </a:xfrm>
            <a:custGeom>
              <a:avLst/>
              <a:gdLst/>
              <a:ahLst/>
              <a:cxnLst/>
              <a:rect l="l" t="t" r="r" b="b"/>
              <a:pathLst>
                <a:path w="1792508" h="3205868">
                  <a:moveTo>
                    <a:pt x="16860" y="0"/>
                  </a:moveTo>
                  <a:lnTo>
                    <a:pt x="1775648" y="0"/>
                  </a:lnTo>
                  <a:cubicBezTo>
                    <a:pt x="1780120" y="0"/>
                    <a:pt x="1784408" y="1776"/>
                    <a:pt x="1787570" y="4938"/>
                  </a:cubicBezTo>
                  <a:cubicBezTo>
                    <a:pt x="1790732" y="8100"/>
                    <a:pt x="1792508" y="12389"/>
                    <a:pt x="1792508" y="16860"/>
                  </a:cubicBezTo>
                  <a:lnTo>
                    <a:pt x="1792508" y="3189008"/>
                  </a:lnTo>
                  <a:cubicBezTo>
                    <a:pt x="1792508" y="3198319"/>
                    <a:pt x="1784960" y="3205868"/>
                    <a:pt x="1775648" y="3205868"/>
                  </a:cubicBezTo>
                  <a:lnTo>
                    <a:pt x="16860" y="3205868"/>
                  </a:lnTo>
                  <a:cubicBezTo>
                    <a:pt x="12389" y="3205868"/>
                    <a:pt x="8100" y="3204092"/>
                    <a:pt x="4938" y="3200930"/>
                  </a:cubicBezTo>
                  <a:cubicBezTo>
                    <a:pt x="1776" y="3197768"/>
                    <a:pt x="0" y="3193479"/>
                    <a:pt x="0" y="3189008"/>
                  </a:cubicBezTo>
                  <a:lnTo>
                    <a:pt x="0" y="16860"/>
                  </a:lnTo>
                  <a:cubicBezTo>
                    <a:pt x="0" y="12389"/>
                    <a:pt x="1776" y="8100"/>
                    <a:pt x="4938" y="4938"/>
                  </a:cubicBezTo>
                  <a:cubicBezTo>
                    <a:pt x="8100" y="1776"/>
                    <a:pt x="12389" y="0"/>
                    <a:pt x="16860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ALGORITHMIC EFFICIENCY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190306"/>
            <a:ext cx="6962563" cy="1386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31"/>
              </a:lnSpc>
            </a:pPr>
            <a:r>
              <a:rPr sz="7500">
                <a:solidFill>
                  <a:srgbClr val="FFFFFF"/>
                </a:solidFill>
                <a:latin typeface="AC Steelfish"/>
              </a:rPr>
              <a:t>COMPLEXITY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766435"/>
            <a:ext cx="3745976" cy="3491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1800">
                <a:solidFill>
                  <a:srgbClr val="FFFFFF"/>
                </a:solidFill>
                <a:latin typeface="Roboto Condensed"/>
              </a:rPr>
              <a:t>Time Complexity of Core Operations: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FIFO Queue Eviction: O(1) via queue head pop and tail append.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LRU Recency Lookup: O(m) linear scan over m = 3 physical frames.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Longest-Prefix Matching: O(R · L) where R is rule count and L is path length.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Version Conflict Check: O(1) integer equality comparison.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848015" y="5766435"/>
            <a:ext cx="3745976" cy="3491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1800">
                <a:solidFill>
                  <a:srgbClr val="FFFFFF"/>
                </a:solidFill>
                <a:latin typeface="Roboto Condensed"/>
              </a:rPr>
              <a:t>Operational Invariants Verified: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Strict Frame Bound: Resident frames never exceed m.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Zero Silent Failures: Every call returns structured status (OK, DENIED, ERROR, CONFLICT).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Complete Determinism: 100% reproducible across operating systems.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8700" y="2327101"/>
            <a:ext cx="8647878" cy="3016461"/>
            <a:chOff x="0" y="0"/>
            <a:chExt cx="3375857" cy="11775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75858" cy="1177531"/>
            </a:xfrm>
            <a:custGeom>
              <a:avLst/>
              <a:gdLst/>
              <a:ahLst/>
              <a:cxnLst/>
              <a:rect l="l" t="t" r="r" b="b"/>
              <a:pathLst>
                <a:path w="3375858" h="1177531">
                  <a:moveTo>
                    <a:pt x="8952" y="0"/>
                  </a:moveTo>
                  <a:lnTo>
                    <a:pt x="3366905" y="0"/>
                  </a:lnTo>
                  <a:cubicBezTo>
                    <a:pt x="3369280" y="0"/>
                    <a:pt x="3371557" y="943"/>
                    <a:pt x="3373236" y="2622"/>
                  </a:cubicBezTo>
                  <a:cubicBezTo>
                    <a:pt x="3374914" y="4301"/>
                    <a:pt x="3375858" y="6578"/>
                    <a:pt x="3375858" y="8952"/>
                  </a:cubicBezTo>
                  <a:lnTo>
                    <a:pt x="3375858" y="1168578"/>
                  </a:lnTo>
                  <a:cubicBezTo>
                    <a:pt x="3375858" y="1170953"/>
                    <a:pt x="3374914" y="1173230"/>
                    <a:pt x="3373236" y="1174909"/>
                  </a:cubicBezTo>
                  <a:cubicBezTo>
                    <a:pt x="3371557" y="1176588"/>
                    <a:pt x="3369280" y="1177531"/>
                    <a:pt x="3366905" y="1177531"/>
                  </a:cubicBezTo>
                  <a:lnTo>
                    <a:pt x="8952" y="1177531"/>
                  </a:lnTo>
                  <a:cubicBezTo>
                    <a:pt x="6578" y="1177531"/>
                    <a:pt x="4301" y="1176588"/>
                    <a:pt x="2622" y="1174909"/>
                  </a:cubicBezTo>
                  <a:cubicBezTo>
                    <a:pt x="943" y="1173230"/>
                    <a:pt x="0" y="1170953"/>
                    <a:pt x="0" y="1168578"/>
                  </a:cubicBezTo>
                  <a:lnTo>
                    <a:pt x="0" y="8952"/>
                  </a:lnTo>
                  <a:cubicBezTo>
                    <a:pt x="0" y="6578"/>
                    <a:pt x="943" y="4301"/>
                    <a:pt x="2622" y="2622"/>
                  </a:cubicBezTo>
                  <a:cubicBezTo>
                    <a:pt x="4301" y="943"/>
                    <a:pt x="6578" y="0"/>
                    <a:pt x="8952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EXPERIMENTAL SUMMARY</a:t>
            </a:r>
          </a:p>
        </p:txBody>
      </p:sp>
      <p:sp>
        <p:nvSpPr>
          <p:cNvPr id="6" name="Freeform 6"/>
          <p:cNvSpPr/>
          <p:nvPr/>
        </p:nvSpPr>
        <p:spPr>
          <a:xfrm>
            <a:off x="-251128" y="6238911"/>
            <a:ext cx="7411500" cy="12024558"/>
          </a:xfrm>
          <a:custGeom>
            <a:avLst/>
            <a:gdLst/>
            <a:ahLst/>
            <a:cxnLst/>
            <a:rect l="l" t="t" r="r" b="b"/>
            <a:pathLst>
              <a:path w="7411500" h="12024558">
                <a:moveTo>
                  <a:pt x="0" y="0"/>
                </a:moveTo>
                <a:lnTo>
                  <a:pt x="7411500" y="0"/>
                </a:lnTo>
                <a:lnTo>
                  <a:pt x="7411500" y="12024558"/>
                </a:lnTo>
                <a:lnTo>
                  <a:pt x="0" y="120245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3984885" y="6567013"/>
            <a:ext cx="5691693" cy="2691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31"/>
              </a:lnSpc>
            </a:pPr>
            <a:r>
              <a:rPr sz="7200">
                <a:solidFill>
                  <a:srgbClr val="FFFFFF"/>
                </a:solidFill>
                <a:latin typeface="AC Steelfish"/>
              </a:rPr>
              <a:t>EVALUATION &amp; VERIFICATION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113736" y="1257336"/>
            <a:ext cx="6145564" cy="2158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1800">
                <a:solidFill>
                  <a:srgbClr val="FFFFFF"/>
                </a:solidFill>
                <a:latin typeface="Roboto Condensed"/>
              </a:rPr>
              <a:t>Rigorous Verification Suite:</a:t>
            </a:r>
          </a:p>
          <a:p>
            <a:pPr>
              <a:spcAft>
                <a:spcPts val="600"/>
              </a:spcAft>
            </a:pPr>
            <a:endParaRPr sz="1800">
              <a:solidFill>
                <a:srgbClr val="FFFFFF"/>
              </a:solidFill>
              <a:latin typeface="Roboto Condensed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42 Automated Unit Tests covering edge cases (zero frames, empty traces, repeated references, unauthorized deletes, path collisions).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Automated evaluation runner: python evaluate.py with --check verification flag.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13736" y="3985296"/>
            <a:ext cx="6145564" cy="1358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100"/>
              </a:lnSpc>
            </a:pPr>
            <a:r>
              <a:rPr sz="1800">
                <a:solidFill>
                  <a:srgbClr val="FFFFFF"/>
                </a:solidFill>
                <a:latin typeface="Roboto Condensed"/>
              </a:rPr>
              <a:t>Key Conclusions: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LRU provides superior cache efficiency (+13.6% hit ratio) for agent workloads with temporal locality.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Longest-prefix matching eliminates information leakage in shared multi-agent environments.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Roboto Condensed"/>
              </a:rPr>
              <a:t>• Classical OS principles directly extend to autonomous agent workspaces.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55799" y="8825702"/>
            <a:ext cx="3403501" cy="25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800">
                <a:solidFill>
                  <a:srgbClr val="FFFFFF"/>
                </a:solidFill>
                <a:latin typeface="Barlow Condensed Medium"/>
              </a:rPr>
              <a:t>github.com/Avanipihu/AGENTOS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400123" cy="400123"/>
          </a:xfrm>
          <a:custGeom>
            <a:avLst/>
            <a:gdLst/>
            <a:ahLst/>
            <a:cxnLst/>
            <a:rect l="l" t="t" r="r" b="b"/>
            <a:pathLst>
              <a:path w="400123" h="400123">
                <a:moveTo>
                  <a:pt x="0" y="0"/>
                </a:moveTo>
                <a:lnTo>
                  <a:pt x="400123" y="0"/>
                </a:lnTo>
                <a:lnTo>
                  <a:pt x="400123" y="400123"/>
                </a:lnTo>
                <a:lnTo>
                  <a:pt x="0" y="4001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459820" y="4231813"/>
            <a:ext cx="9400353" cy="2763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694"/>
              </a:lnSpc>
            </a:pPr>
            <a:r>
              <a:rPr sz="12000">
                <a:solidFill>
                  <a:srgbClr val="FFFFFF"/>
                </a:solidFill>
                <a:latin typeface="AC Steelfish"/>
              </a:rPr>
              <a:t>QUESTIONS?</a:t>
            </a:r>
          </a:p>
        </p:txBody>
      </p:sp>
      <p:grpSp>
        <p:nvGrpSpPr>
          <p:cNvPr id="4" name="Group 4"/>
          <p:cNvGrpSpPr/>
          <p:nvPr/>
        </p:nvGrpSpPr>
        <p:grpSpPr>
          <a:xfrm rot="-2063063">
            <a:off x="4333454" y="3011183"/>
            <a:ext cx="9621092" cy="4264635"/>
            <a:chOff x="0" y="0"/>
            <a:chExt cx="2130273" cy="94426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30273" cy="944263"/>
            </a:xfrm>
            <a:custGeom>
              <a:avLst/>
              <a:gdLst/>
              <a:ahLst/>
              <a:cxnLst/>
              <a:rect l="l" t="t" r="r" b="b"/>
              <a:pathLst>
                <a:path w="2130273" h="944263">
                  <a:moveTo>
                    <a:pt x="1065137" y="0"/>
                  </a:moveTo>
                  <a:cubicBezTo>
                    <a:pt x="476878" y="0"/>
                    <a:pt x="0" y="211380"/>
                    <a:pt x="0" y="472131"/>
                  </a:cubicBezTo>
                  <a:cubicBezTo>
                    <a:pt x="0" y="732882"/>
                    <a:pt x="476878" y="944263"/>
                    <a:pt x="1065137" y="944263"/>
                  </a:cubicBezTo>
                  <a:cubicBezTo>
                    <a:pt x="1653395" y="944263"/>
                    <a:pt x="2130273" y="732882"/>
                    <a:pt x="2130273" y="472131"/>
                  </a:cubicBezTo>
                  <a:cubicBezTo>
                    <a:pt x="2130273" y="211380"/>
                    <a:pt x="1653395" y="0"/>
                    <a:pt x="1065137" y="0"/>
                  </a:cubicBezTo>
                  <a:close/>
                </a:path>
              </a:pathLst>
            </a:custGeom>
            <a:ln w="142875" cap="sq">
              <a:gradFill>
                <a:gsLst>
                  <a:gs pos="0">
                    <a:srgbClr val="952134">
                      <a:alpha val="54000"/>
                    </a:srgbClr>
                  </a:gs>
                  <a:gs pos="50000">
                    <a:srgbClr val="952134">
                      <a:alpha val="100000"/>
                    </a:srgbClr>
                  </a:gs>
                  <a:gs pos="100000">
                    <a:srgbClr val="952134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99713" y="50425"/>
              <a:ext cx="1730847" cy="805313"/>
            </a:xfrm>
            <a:prstGeom prst="rect">
              <a:avLst/>
            </a:prstGeom>
          </p:spPr>
          <p:txBody>
            <a:bodyPr lIns="56354" tIns="56354" rIns="56354" bIns="56354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184138" y="7461850"/>
            <a:ext cx="1419134" cy="141913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114300" cap="sq">
              <a:solidFill>
                <a:srgbClr val="95213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6354" tIns="56354" rIns="56354" bIns="5635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639037" y="7831860"/>
            <a:ext cx="509336" cy="679115"/>
          </a:xfrm>
          <a:custGeom>
            <a:avLst/>
            <a:gdLst/>
            <a:ahLst/>
            <a:cxnLst/>
            <a:rect l="l" t="t" r="r" b="b"/>
            <a:pathLst>
              <a:path w="509336" h="679115">
                <a:moveTo>
                  <a:pt x="0" y="0"/>
                </a:moveTo>
                <a:lnTo>
                  <a:pt x="509335" y="0"/>
                </a:lnTo>
                <a:lnTo>
                  <a:pt x="509335" y="679114"/>
                </a:lnTo>
                <a:lnTo>
                  <a:pt x="0" y="6791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0808128" y="1533479"/>
            <a:ext cx="1059976" cy="105997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  <a:ln w="85725" cap="sq">
              <a:solidFill>
                <a:srgbClr val="821E2E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6354" tIns="56354" rIns="56354" bIns="56354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1152395" y="1815838"/>
            <a:ext cx="371442" cy="495257"/>
          </a:xfrm>
          <a:custGeom>
            <a:avLst/>
            <a:gdLst/>
            <a:ahLst/>
            <a:cxnLst/>
            <a:rect l="l" t="t" r="r" b="b"/>
            <a:pathLst>
              <a:path w="371442" h="495257">
                <a:moveTo>
                  <a:pt x="0" y="0"/>
                </a:moveTo>
                <a:lnTo>
                  <a:pt x="371443" y="0"/>
                </a:lnTo>
                <a:lnTo>
                  <a:pt x="371443" y="495257"/>
                </a:lnTo>
                <a:lnTo>
                  <a:pt x="0" y="495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1612807" y="1074456"/>
            <a:ext cx="2639394" cy="33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>
                <a:solidFill>
                  <a:srgbClr val="FFFFFF"/>
                </a:solidFill>
                <a:latin typeface="Barlow Condensed Medium"/>
              </a:rPr>
              <a:t>AGENTOS · OS CASE STUDY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27826" y="4231813"/>
            <a:ext cx="8548670" cy="2763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94"/>
              </a:lnSpc>
            </a:pPr>
            <a:r>
              <a:rPr sz="18000">
                <a:solidFill>
                  <a:srgbClr val="FFFFFF"/>
                </a:solidFill>
                <a:latin typeface="AC Steelfish"/>
              </a:rPr>
              <a:t>THANK YOU</a:t>
            </a:r>
          </a:p>
        </p:txBody>
      </p:sp>
      <p:sp>
        <p:nvSpPr>
          <p:cNvPr id="17" name="Freeform 17"/>
          <p:cNvSpPr/>
          <p:nvPr/>
        </p:nvSpPr>
        <p:spPr>
          <a:xfrm>
            <a:off x="16041149" y="-2877794"/>
            <a:ext cx="7089687" cy="7089687"/>
          </a:xfrm>
          <a:custGeom>
            <a:avLst/>
            <a:gdLst/>
            <a:ahLst/>
            <a:cxnLst/>
            <a:rect l="l" t="t" r="r" b="b"/>
            <a:pathLst>
              <a:path w="7089687" h="7089687">
                <a:moveTo>
                  <a:pt x="0" y="0"/>
                </a:moveTo>
                <a:lnTo>
                  <a:pt x="7089687" y="0"/>
                </a:lnTo>
                <a:lnTo>
                  <a:pt x="7089687" y="7089687"/>
                </a:lnTo>
                <a:lnTo>
                  <a:pt x="0" y="70896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 flipH="1" flipV="1">
            <a:off x="-5004430" y="5713457"/>
            <a:ext cx="7089687" cy="7089687"/>
          </a:xfrm>
          <a:custGeom>
            <a:avLst/>
            <a:gdLst/>
            <a:ahLst/>
            <a:cxnLst/>
            <a:rect l="l" t="t" r="r" b="b"/>
            <a:pathLst>
              <a:path w="7089687" h="7089687">
                <a:moveTo>
                  <a:pt x="7089687" y="7089686"/>
                </a:moveTo>
                <a:lnTo>
                  <a:pt x="0" y="7089686"/>
                </a:lnTo>
                <a:lnTo>
                  <a:pt x="0" y="0"/>
                </a:lnTo>
                <a:lnTo>
                  <a:pt x="7089687" y="0"/>
                </a:lnTo>
                <a:lnTo>
                  <a:pt x="7089687" y="7089686"/>
                </a:lnTo>
                <a:close/>
              </a:path>
            </a:pathLst>
          </a:custGeom>
          <a:blipFill>
            <a:blip>
              <a:alphaModFix amt="6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3855799" y="8530024"/>
            <a:ext cx="3403501" cy="255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800">
                <a:solidFill>
                  <a:srgbClr val="FFFFFF"/>
                </a:solidFill>
                <a:latin typeface="Barlow Condensed Medium"/>
              </a:rPr>
              <a:t>github.com/Avanipihu/AGENTOS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064364" y="8890509"/>
            <a:ext cx="4194936" cy="368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00"/>
              </a:lnSpc>
            </a:pPr>
            <a:r>
              <a:rPr sz="1500">
                <a:solidFill>
                  <a:srgbClr val="FFFFFF"/>
                </a:solidFill>
                <a:latin typeface="Barlow Condensed"/>
              </a:rPr>
              <a:t>AgentOS: An OS Case Study on Memory and File Management in Agent-Oriented Workspaces. Complete codebase, test matrix, and visual figures available on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1259</Words>
  <Application>Microsoft Macintosh PowerPoint</Application>
  <PresentationFormat>Custom</PresentationFormat>
  <Paragraphs>123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Barlow Condensed</vt:lpstr>
      <vt:lpstr>Barlow Condensed Medium</vt:lpstr>
      <vt:lpstr>Roboto Condensed</vt:lpstr>
      <vt:lpstr>Arial</vt:lpstr>
      <vt:lpstr>AC Steelfish</vt:lpstr>
      <vt:lpstr>Calibri</vt:lpstr>
      <vt:lpstr>Bebas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and Black Modern Clean Cyber Security Presentation</dc:title>
  <cp:lastModifiedBy>Galidevara S Phanikiran</cp:lastModifiedBy>
  <cp:revision>2</cp:revision>
  <dcterms:created xsi:type="dcterms:W3CDTF">2006-08-16T00:00:00Z</dcterms:created>
  <dcterms:modified xsi:type="dcterms:W3CDTF">2026-10-24T02:26:21Z</dcterms:modified>
  <dc:identifier>DAHY2oO_y0Q</dc:identifier>
</cp:coreProperties>
</file>